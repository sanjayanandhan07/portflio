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4" r:id="rId3"/>
    <p:sldId id="257" r:id="rId4"/>
    <p:sldId id="258" r:id="rId5"/>
    <p:sldId id="259" r:id="rId6"/>
    <p:sldId id="260" r:id="rId7"/>
    <p:sldId id="261" r:id="rId8"/>
    <p:sldId id="262" r:id="rId9"/>
    <p:sldId id="270" r:id="rId10"/>
    <p:sldId id="263" r:id="rId11"/>
    <p:sldId id="264" r:id="rId12"/>
    <p:sldId id="265" r:id="rId13"/>
    <p:sldId id="266" r:id="rId14"/>
    <p:sldId id="267" r:id="rId15"/>
    <p:sldId id="273"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72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3815D1-E345-4A7E-A02F-76BAA632F32C}" type="datetimeFigureOut">
              <a:rPr lang="en-IN" smtClean="0"/>
              <a:t>27-10-2025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330E2-CE9F-4B1B-8762-021B1597C0E3}" type="slidenum">
              <a:rPr lang="en-IN" smtClean="0"/>
              <a:t>‹#›</a:t>
            </a:fld>
            <a:endParaRPr lang="en-IN"/>
          </a:p>
        </p:txBody>
      </p:sp>
    </p:spTree>
    <p:extLst>
      <p:ext uri="{BB962C8B-B14F-4D97-AF65-F5344CB8AC3E}">
        <p14:creationId xmlns:p14="http://schemas.microsoft.com/office/powerpoint/2010/main" val="2740968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noRot="1" noChangeAspect="1"/>
          </p:cNvSpPr>
          <p:nvPr>
            <p:ph type="sldImg"/>
          </p:nvPr>
        </p:nvSpPr>
        <p:spPr>
          <a:xfrm>
            <a:off x="1141413" y="685800"/>
            <a:ext cx="4573587" cy="3429000"/>
          </a:xfrm>
          <a:prstGeom prst="rect">
            <a:avLst/>
          </a:prstGeom>
          <a:ln w="0">
            <a:noFill/>
          </a:ln>
        </p:spPr>
      </p:sp>
      <p:sp>
        <p:nvSpPr>
          <p:cNvPr id="121" name="PlaceHolder 2"/>
          <p:cNvSpPr>
            <a:spLocks noGrp="1"/>
          </p:cNvSpPr>
          <p:nvPr>
            <p:ph type="body"/>
          </p:nvPr>
        </p:nvSpPr>
        <p:spPr>
          <a:xfrm>
            <a:off x="685800" y="4343400"/>
            <a:ext cx="5485680" cy="4114080"/>
          </a:xfrm>
          <a:prstGeom prst="rect">
            <a:avLst/>
          </a:prstGeom>
          <a:noFill/>
          <a:ln w="0">
            <a:noFill/>
          </a:ln>
        </p:spPr>
        <p:txBody>
          <a:bodyPr lIns="91440" tIns="45720" rIns="91440" bIns="45720" numCol="1" spcCol="0" anchor="t">
            <a:noAutofit/>
          </a:bodyPr>
          <a:lstStyle/>
          <a:p>
            <a:pPr marL="216000" indent="-216000">
              <a:buNone/>
            </a:pPr>
            <a:endParaRPr lang="en-US" sz="1800" b="0" u="none" strike="noStrike">
              <a:solidFill>
                <a:srgbClr val="000000"/>
              </a:solidFill>
              <a:uFillTx/>
              <a:latin typeface="Arial"/>
            </a:endParaRPr>
          </a:p>
        </p:txBody>
      </p:sp>
      <p:sp>
        <p:nvSpPr>
          <p:cNvPr id="122" name="PlaceHolder 3"/>
          <p:cNvSpPr>
            <a:spLocks noGrp="1"/>
          </p:cNvSpPr>
          <p:nvPr>
            <p:ph type="sldNum" idx="59"/>
          </p:nvPr>
        </p:nvSpPr>
        <p:spPr>
          <a:xfrm>
            <a:off x="3884760" y="8685360"/>
            <a:ext cx="2971080" cy="456480"/>
          </a:xfrm>
          <a:prstGeom prst="rect">
            <a:avLst/>
          </a:prstGeom>
          <a:noFill/>
          <a:ln w="0">
            <a:noFill/>
          </a:ln>
        </p:spPr>
        <p:txBody>
          <a:bodyPr lIns="91440" tIns="45720" rIns="91440" bIns="45720" numCol="1" spcCol="0" anchor="b">
            <a:noAutofit/>
          </a:bodyPr>
          <a:lstStyle>
            <a:lvl1pPr indent="0" algn="r">
              <a:lnSpc>
                <a:spcPct val="100000"/>
              </a:lnSpc>
              <a:buNone/>
              <a:tabLst>
                <a:tab pos="0" algn="l"/>
              </a:tabLst>
              <a:defRPr lang="en-US" sz="1200" b="0" u="none" strike="noStrike">
                <a:solidFill>
                  <a:srgbClr val="000000"/>
                </a:solidFill>
                <a:uFillTx/>
                <a:latin typeface="Times New Roman"/>
              </a:defRPr>
            </a:lvl1pPr>
          </a:lstStyle>
          <a:p>
            <a:pPr indent="0" algn="r">
              <a:lnSpc>
                <a:spcPct val="100000"/>
              </a:lnSpc>
              <a:buNone/>
              <a:tabLst>
                <a:tab pos="0" algn="l"/>
              </a:tabLst>
            </a:pPr>
            <a:fld id="{E3B30B15-4019-4064-A813-46733A5995CF}" type="slidenum">
              <a:rPr lang="en-US" sz="1200" b="0" u="none" strike="noStrike">
                <a:solidFill>
                  <a:srgbClr val="000000"/>
                </a:solidFill>
                <a:uFillTx/>
                <a:latin typeface="Times New Roman"/>
              </a:rPr>
              <a:t>9</a:t>
            </a:fld>
            <a:endParaRPr lang="en-US" sz="1200" b="0" u="none" strike="noStrike">
              <a:solidFill>
                <a:srgbClr val="000000"/>
              </a:solidFill>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Default 2">
    <p:spTree>
      <p:nvGrpSpPr>
        <p:cNvPr id="1" name=""/>
        <p:cNvGrpSpPr/>
        <p:nvPr/>
      </p:nvGrpSpPr>
      <p:grpSpPr>
        <a:xfrm>
          <a:off x="0" y="0"/>
          <a:ext cx="0" cy="0"/>
          <a:chOff x="0" y="0"/>
          <a:chExt cx="0" cy="0"/>
        </a:xfrm>
      </p:grpSpPr>
      <p:sp>
        <p:nvSpPr>
          <p:cNvPr id="38" name="PlaceHolder 1"/>
          <p:cNvSpPr>
            <a:spLocks noGrp="1"/>
          </p:cNvSpPr>
          <p:nvPr>
            <p:ph type="title"/>
          </p:nvPr>
        </p:nvSpPr>
        <p:spPr>
          <a:xfrm>
            <a:off x="457110" y="-47520"/>
            <a:ext cx="8229060" cy="1142280"/>
          </a:xfrm>
          <a:prstGeom prst="rect">
            <a:avLst/>
          </a:prstGeom>
          <a:noFill/>
          <a:ln w="0">
            <a:noFill/>
          </a:ln>
        </p:spPr>
        <p:txBody>
          <a:bodyPr lIns="0" tIns="0" rIns="0" bIns="0" anchor="ctr">
            <a:noAutofit/>
          </a:bodyPr>
          <a:lstStyle>
            <a:lvl1pPr indent="0" algn="ctr">
              <a:buNone/>
              <a:defRPr/>
            </a:lvl1pPr>
          </a:lstStyle>
          <a:p>
            <a:pPr indent="0" algn="ctr">
              <a:buNone/>
            </a:pPr>
            <a:endParaRPr lang="en-US" sz="3300" b="0" u="none" strike="noStrike">
              <a:solidFill>
                <a:srgbClr val="000000"/>
              </a:solidFill>
              <a:uFillTx/>
              <a:latin typeface="Arial"/>
            </a:endParaRPr>
          </a:p>
        </p:txBody>
      </p:sp>
      <p:sp>
        <p:nvSpPr>
          <p:cNvPr id="39" name="PlaceHolder 2"/>
          <p:cNvSpPr>
            <a:spLocks noGrp="1"/>
          </p:cNvSpPr>
          <p:nvPr>
            <p:ph/>
          </p:nvPr>
        </p:nvSpPr>
        <p:spPr>
          <a:xfrm>
            <a:off x="457110" y="1095480"/>
            <a:ext cx="8229060" cy="5029920"/>
          </a:xfrm>
          <a:prstGeom prst="rect">
            <a:avLst/>
          </a:prstGeom>
          <a:noFill/>
          <a:ln w="0">
            <a:noFill/>
          </a:ln>
        </p:spPr>
        <p:txBody>
          <a:bodyPr lIns="0" tIns="0" rIns="0" bIns="0" anchor="t">
            <a:normAutofit/>
          </a:bodyPr>
          <a:lstStyle>
            <a:lvl1pPr indent="0">
              <a:spcBef>
                <a:spcPts val="1063"/>
              </a:spcBef>
              <a:buNone/>
              <a:defRPr/>
            </a:lvl1pPr>
          </a:lstStyle>
          <a:p>
            <a:pPr indent="0">
              <a:spcBef>
                <a:spcPts val="1417"/>
              </a:spcBef>
              <a:buNone/>
            </a:pPr>
            <a:endParaRPr lang="en-US" sz="2400" b="0" u="none" strike="noStrike">
              <a:solidFill>
                <a:srgbClr val="000000"/>
              </a:solidFill>
              <a:uFillTx/>
              <a:latin typeface="Arial"/>
            </a:endParaRPr>
          </a:p>
        </p:txBody>
      </p:sp>
      <p:sp>
        <p:nvSpPr>
          <p:cNvPr id="4" name="PlaceHolder 3"/>
          <p:cNvSpPr>
            <a:spLocks noGrp="1"/>
          </p:cNvSpPr>
          <p:nvPr>
            <p:ph type="ftr" idx="19"/>
          </p:nvPr>
        </p:nvSpPr>
        <p:spPr/>
        <p:txBody>
          <a:bodyPr/>
          <a:lstStyle/>
          <a:p>
            <a:r>
              <a:t>Footer</a:t>
            </a:r>
          </a:p>
        </p:txBody>
      </p:sp>
      <p:sp>
        <p:nvSpPr>
          <p:cNvPr id="5" name="PlaceHolder 4"/>
          <p:cNvSpPr>
            <a:spLocks noGrp="1"/>
          </p:cNvSpPr>
          <p:nvPr>
            <p:ph type="sldNum" idx="20"/>
          </p:nvPr>
        </p:nvSpPr>
        <p:spPr/>
        <p:txBody>
          <a:bodyPr/>
          <a:lstStyle/>
          <a:p>
            <a:fld id="{46A5EC11-E8C7-42E0-AFEE-2F829BDF2270}" type="slidenum">
              <a:t>‹#›</a:t>
            </a:fld>
            <a:endParaRPr/>
          </a:p>
        </p:txBody>
      </p:sp>
      <p:sp>
        <p:nvSpPr>
          <p:cNvPr id="6" name="PlaceHolder 5"/>
          <p:cNvSpPr>
            <a:spLocks noGrp="1"/>
          </p:cNvSpPr>
          <p:nvPr>
            <p:ph type="dt" idx="21"/>
          </p:nvPr>
        </p:nvSpPr>
        <p:spPr/>
        <p:txBody>
          <a:bodyPr/>
          <a:lstStyle/>
          <a:p>
            <a:endParaRPr/>
          </a:p>
        </p:txBody>
      </p:sp>
    </p:spTree>
    <p:extLst>
      <p:ext uri="{BB962C8B-B14F-4D97-AF65-F5344CB8AC3E}">
        <p14:creationId xmlns:p14="http://schemas.microsoft.com/office/powerpoint/2010/main" val="616055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cdc.gov/healthyweight/assessing/bmi/adult_bmi/index.html" TargetMode="External"/><Relationship Id="rId2" Type="http://schemas.openxmlformats.org/officeDocument/2006/relationships/hyperlink" Target="https://www.who.int/news-room/fact-sheets/detail/obesity-and-overweigh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873" y="-843168"/>
            <a:ext cx="7772400" cy="1470025"/>
          </a:xfrm>
        </p:spPr>
        <p:txBody>
          <a:bodyPr>
            <a:normAutofit fontScale="90000"/>
          </a:bodyPr>
          <a:lstStyle/>
          <a:p>
            <a:pPr algn="l"/>
            <a:br>
              <a:rPr lang="en-IN" sz="6000" dirty="0">
                <a:solidFill>
                  <a:schemeClr val="tx2"/>
                </a:solidFill>
                <a:latin typeface="+mn-lt"/>
              </a:rPr>
            </a:br>
            <a:br>
              <a:rPr lang="en-IN" sz="6000" dirty="0">
                <a:solidFill>
                  <a:schemeClr val="tx2"/>
                </a:solidFill>
                <a:latin typeface="+mn-lt"/>
              </a:rPr>
            </a:br>
            <a:br>
              <a:rPr lang="en-IN" sz="6000" dirty="0">
                <a:solidFill>
                  <a:schemeClr val="tx2"/>
                </a:solidFill>
                <a:latin typeface="+mn-lt"/>
              </a:rPr>
            </a:br>
            <a:r>
              <a:rPr lang="en-IN" sz="6000" dirty="0">
                <a:solidFill>
                  <a:schemeClr val="tx2"/>
                </a:solidFill>
                <a:latin typeface="+mn-lt"/>
              </a:rPr>
              <a:t>   </a:t>
            </a:r>
            <a:br>
              <a:rPr lang="en-IN" sz="3100" dirty="0">
                <a:latin typeface="Cascadia Code SemiBold" panose="020B0609020000020004" pitchFamily="49" charset="0"/>
                <a:ea typeface="Cascadia Code SemiBold" panose="020B0609020000020004" pitchFamily="49" charset="0"/>
                <a:cs typeface="Cascadia Code SemiBold" panose="020B0609020000020004" pitchFamily="49" charset="0"/>
              </a:rPr>
            </a:br>
            <a:br>
              <a:rPr lang="en-IN" sz="3100" dirty="0">
                <a:latin typeface="Cascadia Code SemiBold" panose="020B0609020000020004" pitchFamily="49" charset="0"/>
                <a:ea typeface="Cascadia Code SemiBold" panose="020B0609020000020004" pitchFamily="49" charset="0"/>
                <a:cs typeface="Cascadia Code SemiBold" panose="020B0609020000020004" pitchFamily="49" charset="0"/>
              </a:rPr>
            </a:br>
            <a:r>
              <a:rPr lang="en-IN" sz="3100" dirty="0">
                <a:latin typeface="Cascadia Code SemiBold" panose="020B0609020000020004" pitchFamily="49" charset="0"/>
                <a:ea typeface="Cascadia Code SemiBold" panose="020B0609020000020004" pitchFamily="49" charset="0"/>
                <a:cs typeface="Cascadia Code SemiBold" panose="020B0609020000020004" pitchFamily="49" charset="0"/>
              </a:rPr>
              <a:t>   </a:t>
            </a:r>
            <a:r>
              <a:rPr lang="en-IN" sz="5300" b="1" dirty="0">
                <a:solidFill>
                  <a:schemeClr val="tx2"/>
                </a:solidFill>
                <a:ea typeface="Cascadia Code SemiBold" panose="020B0609020000020004" pitchFamily="49" charset="0"/>
                <a:cs typeface="Cascadia Code SemiBold" panose="020B0609020000020004" pitchFamily="49" charset="0"/>
              </a:rPr>
              <a:t>SMART BMI INDICATOR</a:t>
            </a:r>
            <a:br>
              <a:rPr lang="en-IN" sz="4900" dirty="0">
                <a:solidFill>
                  <a:schemeClr val="tx2"/>
                </a:solidFill>
                <a:latin typeface="Cascadia Code SemiBold" panose="020B0609020000020004" pitchFamily="49" charset="0"/>
                <a:ea typeface="Cascadia Code SemiBold" panose="020B0609020000020004" pitchFamily="49" charset="0"/>
                <a:cs typeface="Cascadia Code SemiBold" panose="020B0609020000020004" pitchFamily="49" charset="0"/>
              </a:rPr>
            </a:br>
            <a:br>
              <a:rPr lang="en-IN" sz="3100" dirty="0">
                <a:latin typeface="Cascadia Code SemiBold" panose="020B0609020000020004" pitchFamily="49" charset="0"/>
                <a:ea typeface="Cascadia Code SemiBold" panose="020B0609020000020004" pitchFamily="49" charset="0"/>
                <a:cs typeface="Cascadia Code SemiBold" panose="020B0609020000020004" pitchFamily="49" charset="0"/>
              </a:rPr>
            </a:br>
            <a:r>
              <a:rPr lang="en-IN" sz="3100" dirty="0">
                <a:latin typeface="Cascadia Code SemiBold" panose="020B0609020000020004" pitchFamily="49" charset="0"/>
                <a:ea typeface="Cascadia Code SemiBold" panose="020B0609020000020004" pitchFamily="49" charset="0"/>
                <a:cs typeface="Cascadia Code SemiBold" panose="020B0609020000020004" pitchFamily="49" charset="0"/>
              </a:rPr>
              <a:t>   </a:t>
            </a:r>
            <a:r>
              <a:rPr lang="en-IN" sz="3200" dirty="0"/>
              <a:t>SANTHOSH KANNA M (211422105147)</a:t>
            </a:r>
            <a:br>
              <a:rPr lang="en-IN" sz="3200" dirty="0"/>
            </a:br>
            <a:r>
              <a:rPr lang="en-IN" sz="3200" dirty="0"/>
              <a:t>        SANJAY A(211422105145)</a:t>
            </a:r>
            <a:br>
              <a:rPr lang="en-IN" sz="3200" dirty="0"/>
            </a:br>
            <a:r>
              <a:rPr lang="en-IN" sz="3200" dirty="0"/>
              <a:t>        SARAN M(211422105150)</a:t>
            </a:r>
            <a:br>
              <a:rPr lang="en-IN" sz="3200" dirty="0"/>
            </a:br>
            <a:r>
              <a:rPr lang="en-IN" sz="3200" dirty="0"/>
              <a:t>        VINOTH KUMAR(211422105912)</a:t>
            </a:r>
            <a:endParaRPr lang="en-IN" sz="3100" dirty="0">
              <a:solidFill>
                <a:schemeClr val="tx2"/>
              </a:solidFill>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sp>
        <p:nvSpPr>
          <p:cNvPr id="3" name="Subtitle 2"/>
          <p:cNvSpPr>
            <a:spLocks noGrp="1"/>
          </p:cNvSpPr>
          <p:nvPr>
            <p:ph type="subTitle" idx="1"/>
          </p:nvPr>
        </p:nvSpPr>
        <p:spPr>
          <a:xfrm>
            <a:off x="1371600" y="3886200"/>
            <a:ext cx="6474542" cy="2435942"/>
          </a:xfrm>
        </p:spPr>
        <p:txBody>
          <a:bodyPr>
            <a:normAutofit/>
          </a:bodyPr>
          <a:lstStyle/>
          <a:p>
            <a:r>
              <a:rPr dirty="0">
                <a:solidFill>
                  <a:srgbClr val="002060"/>
                </a:solidFill>
              </a:rPr>
              <a:t>Department of Electrical and Electronics Engineering</a:t>
            </a:r>
          </a:p>
          <a:p>
            <a:r>
              <a:rPr dirty="0">
                <a:solidFill>
                  <a:schemeClr val="tx1">
                    <a:lumMod val="95000"/>
                    <a:lumOff val="5000"/>
                  </a:schemeClr>
                </a:solidFill>
              </a:rPr>
              <a:t>Guide: Mr. Sundara Moorthy</a:t>
            </a:r>
            <a:endParaRPr lang="en-IN" dirty="0">
              <a:solidFill>
                <a:schemeClr val="tx1">
                  <a:lumMod val="95000"/>
                  <a:lumOff val="5000"/>
                </a:schemeClr>
              </a:solidFill>
            </a:endParaRPr>
          </a:p>
          <a:p>
            <a:r>
              <a:rPr lang="en-IN" dirty="0">
                <a:solidFill>
                  <a:schemeClr val="tx1">
                    <a:lumMod val="95000"/>
                    <a:lumOff val="5000"/>
                  </a:schemeClr>
                </a:solidFill>
              </a:rPr>
              <a:t>DATE:26-10-2015</a:t>
            </a:r>
          </a:p>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F9EB5-AC0E-EDBB-2B15-7754365740A0}"/>
              </a:ext>
            </a:extLst>
          </p:cNvPr>
          <p:cNvSpPr>
            <a:spLocks noGrp="1"/>
          </p:cNvSpPr>
          <p:nvPr>
            <p:ph type="title"/>
          </p:nvPr>
        </p:nvSpPr>
        <p:spPr/>
        <p:txBody>
          <a:bodyPr/>
          <a:lstStyle/>
          <a:p>
            <a:pPr algn="l"/>
            <a:r>
              <a:rPr lang="en-IN" b="1" dirty="0">
                <a:solidFill>
                  <a:schemeClr val="tx2"/>
                </a:solidFill>
              </a:rPr>
              <a:t>Table Of Content:</a:t>
            </a:r>
          </a:p>
        </p:txBody>
      </p:sp>
      <p:sp>
        <p:nvSpPr>
          <p:cNvPr id="3" name="Content Placeholder 2">
            <a:extLst>
              <a:ext uri="{FF2B5EF4-FFF2-40B4-BE49-F238E27FC236}">
                <a16:creationId xmlns:a16="http://schemas.microsoft.com/office/drawing/2014/main" id="{159816D0-09C5-6EEB-79B3-81FF037C13A7}"/>
              </a:ext>
            </a:extLst>
          </p:cNvPr>
          <p:cNvSpPr>
            <a:spLocks noGrp="1"/>
          </p:cNvSpPr>
          <p:nvPr>
            <p:ph idx="1"/>
          </p:nvPr>
        </p:nvSpPr>
        <p:spPr/>
        <p:txBody>
          <a:bodyPr>
            <a:normAutofit fontScale="70000" lnSpcReduction="20000"/>
          </a:bodyPr>
          <a:lstStyle/>
          <a:p>
            <a:pPr marL="0" indent="0">
              <a:buNone/>
            </a:pPr>
            <a:endParaRPr lang="en-IN" dirty="0"/>
          </a:p>
          <a:p>
            <a:r>
              <a:rPr lang="en-US" dirty="0"/>
              <a:t>1. ABSTRACT</a:t>
            </a:r>
            <a:endParaRPr lang="en-IN" dirty="0"/>
          </a:p>
          <a:p>
            <a:r>
              <a:rPr lang="en-US" dirty="0"/>
              <a:t>2. INTRODUCTION</a:t>
            </a:r>
            <a:endParaRPr lang="en-IN" dirty="0"/>
          </a:p>
          <a:p>
            <a:r>
              <a:rPr lang="en-US" dirty="0"/>
              <a:t>3. PROBLEM STATEMENT</a:t>
            </a:r>
            <a:endParaRPr lang="en-IN" dirty="0"/>
          </a:p>
          <a:p>
            <a:r>
              <a:rPr lang="en-US" dirty="0"/>
              <a:t>4. OBJECTIVES</a:t>
            </a:r>
            <a:endParaRPr lang="en-IN" dirty="0"/>
          </a:p>
          <a:p>
            <a:r>
              <a:rPr lang="en-US" dirty="0"/>
              <a:t>5. REVIEW/BACKGROUND</a:t>
            </a:r>
            <a:endParaRPr lang="en-IN" dirty="0"/>
          </a:p>
          <a:p>
            <a:r>
              <a:rPr lang="en-US" dirty="0"/>
              <a:t>6. METHODOLOGY</a:t>
            </a:r>
            <a:endParaRPr lang="en-IN" dirty="0"/>
          </a:p>
          <a:p>
            <a:r>
              <a:rPr lang="en-US" dirty="0"/>
              <a:t>7.RESULTS AND ANALYSIS</a:t>
            </a:r>
            <a:endParaRPr lang="en-IN" dirty="0"/>
          </a:p>
          <a:p>
            <a:r>
              <a:rPr lang="en-US" dirty="0"/>
              <a:t>8.CONCLUSION</a:t>
            </a:r>
            <a:endParaRPr lang="en-IN" dirty="0"/>
          </a:p>
          <a:p>
            <a:r>
              <a:rPr lang="en-US" dirty="0"/>
              <a:t>9.FUTURE WORK</a:t>
            </a:r>
          </a:p>
          <a:p>
            <a:r>
              <a:rPr lang="en-IN" dirty="0"/>
              <a:t>10.ACKNOWLEGMENTS</a:t>
            </a:r>
          </a:p>
          <a:p>
            <a:r>
              <a:rPr lang="en-US" dirty="0"/>
              <a:t>11.REFERENCES</a:t>
            </a:r>
            <a:endParaRPr lang="en-IN" dirty="0"/>
          </a:p>
          <a:p>
            <a:endParaRPr lang="en-IN" dirty="0"/>
          </a:p>
        </p:txBody>
      </p:sp>
    </p:spTree>
    <p:extLst>
      <p:ext uri="{BB962C8B-B14F-4D97-AF65-F5344CB8AC3E}">
        <p14:creationId xmlns:p14="http://schemas.microsoft.com/office/powerpoint/2010/main" val="2804801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Abstract</a:t>
            </a:r>
          </a:p>
        </p:txBody>
      </p:sp>
      <p:sp>
        <p:nvSpPr>
          <p:cNvPr id="3" name="Content Placeholder 2"/>
          <p:cNvSpPr>
            <a:spLocks noGrp="1"/>
          </p:cNvSpPr>
          <p:nvPr>
            <p:ph idx="1"/>
          </p:nvPr>
        </p:nvSpPr>
        <p:spPr/>
        <p:txBody>
          <a:bodyPr>
            <a:normAutofit fontScale="85000" lnSpcReduction="10000"/>
          </a:bodyPr>
          <a:lstStyle/>
          <a:p>
            <a:r>
              <a:rPr dirty="0"/>
              <a:t>The Smart BMI Indicator is a microcontroller-based system designed to measure, calculate, and analyze Body Mass Index (BMI) automatically. It utilizes load cells for weight detection and ultrasonic sensors for height measurement. The collected data is processed to calculate BMI and categorize users into different health classes such as underweight, normal, overweight, and obese. The project aims to enhance accuracy, reduce manual errors, and promote preventive healthcare</a:t>
            </a:r>
            <a:endParaRPr lang="en-IN" dirty="0"/>
          </a:p>
          <a:p>
            <a:r>
              <a:rPr dirty="0"/>
              <a:t> through IoT connectivity and data visualization.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Introduction</a:t>
            </a:r>
          </a:p>
        </p:txBody>
      </p:sp>
      <p:sp>
        <p:nvSpPr>
          <p:cNvPr id="3" name="Content Placeholder 2"/>
          <p:cNvSpPr>
            <a:spLocks noGrp="1"/>
          </p:cNvSpPr>
          <p:nvPr>
            <p:ph idx="1"/>
          </p:nvPr>
        </p:nvSpPr>
        <p:spPr/>
        <p:txBody>
          <a:bodyPr>
            <a:normAutofit fontScale="85000" lnSpcReduction="10000"/>
          </a:bodyPr>
          <a:lstStyle/>
          <a:p>
            <a:r>
              <a:rPr dirty="0"/>
              <a:t>The Body Mass Index (BMI) is a vital health indicator that helps determine a person’s physical health and risk of diseases. Traditional BMI measurement involves manual calculation and data entry, which can lead to inaccuracies. The Smart BMI Indicator automates this process using electronic sensors and a microcontroller, ensuring precision and ease of use.</a:t>
            </a:r>
          </a:p>
          <a:p>
            <a:endParaRPr dirty="0"/>
          </a:p>
          <a:p>
            <a:r>
              <a:rPr dirty="0"/>
              <a:t>This project highlights the integration of hardware and software to create an efficient, real-time health monitoring device.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Problem Statement</a:t>
            </a:r>
          </a:p>
        </p:txBody>
      </p:sp>
      <p:sp>
        <p:nvSpPr>
          <p:cNvPr id="3" name="Content Placeholder 2"/>
          <p:cNvSpPr>
            <a:spLocks noGrp="1"/>
          </p:cNvSpPr>
          <p:nvPr>
            <p:ph idx="1"/>
          </p:nvPr>
        </p:nvSpPr>
        <p:spPr/>
        <p:txBody>
          <a:bodyPr>
            <a:normAutofit fontScale="92500" lnSpcReduction="10000"/>
          </a:bodyPr>
          <a:lstStyle/>
          <a:p>
            <a:r>
              <a:rPr dirty="0"/>
              <a:t>Existing BMI measurement systems depend on manual input and calculations, leading to possible human errors. There is a lack of affordable and automated systems that can measure both height and weight simultaneously.</a:t>
            </a:r>
          </a:p>
          <a:p>
            <a:pPr marL="0" indent="0">
              <a:buNone/>
            </a:pPr>
            <a:endParaRPr dirty="0"/>
          </a:p>
          <a:p>
            <a:r>
              <a:rPr dirty="0"/>
              <a:t>Motivation: The increasing demand for smart </a:t>
            </a:r>
            <a:endParaRPr lang="en-IN" dirty="0"/>
          </a:p>
          <a:p>
            <a:pPr marL="0" indent="0">
              <a:buNone/>
            </a:pPr>
            <a:r>
              <a:rPr lang="en-IN" dirty="0"/>
              <a:t>    </a:t>
            </a:r>
            <a:r>
              <a:rPr dirty="0"/>
              <a:t>healthcare devices inspired the development of </a:t>
            </a:r>
            <a:r>
              <a:rPr lang="en-IN" dirty="0"/>
              <a:t>            </a:t>
            </a:r>
            <a:r>
              <a:rPr dirty="0"/>
              <a:t>an automated BMI indicator that ensures accuracy and accessibility.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Objectives</a:t>
            </a:r>
          </a:p>
        </p:txBody>
      </p:sp>
      <p:sp>
        <p:nvSpPr>
          <p:cNvPr id="3" name="Content Placeholder 2"/>
          <p:cNvSpPr>
            <a:spLocks noGrp="1"/>
          </p:cNvSpPr>
          <p:nvPr>
            <p:ph idx="1"/>
          </p:nvPr>
        </p:nvSpPr>
        <p:spPr/>
        <p:txBody>
          <a:bodyPr>
            <a:normAutofit fontScale="92500" lnSpcReduction="20000"/>
          </a:bodyPr>
          <a:lstStyle/>
          <a:p>
            <a:r>
              <a:rPr dirty="0"/>
              <a:t>• To design and develop an automated system for BMI measurement.</a:t>
            </a:r>
          </a:p>
          <a:p>
            <a:r>
              <a:rPr dirty="0"/>
              <a:t>• To integrate load cell and ultrasonic sensors for accurate data collection.</a:t>
            </a:r>
          </a:p>
          <a:p>
            <a:r>
              <a:rPr dirty="0"/>
              <a:t>• To implement a microcontroller-based system for BMI computation.</a:t>
            </a:r>
          </a:p>
          <a:p>
            <a:r>
              <a:rPr dirty="0"/>
              <a:t>• To provide real-time analysis and user-friendly data visualization.</a:t>
            </a:r>
          </a:p>
          <a:p>
            <a:r>
              <a:rPr dirty="0"/>
              <a:t>• To promote preventive healthcare through regular BMI monitoring.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Review / B</a:t>
            </a:r>
            <a:r>
              <a:rPr lang="en-IN" b="1" dirty="0">
                <a:solidFill>
                  <a:schemeClr val="tx2"/>
                </a:solidFill>
              </a:rPr>
              <a:t>Literature </a:t>
            </a:r>
            <a:r>
              <a:rPr b="1" dirty="0" err="1">
                <a:solidFill>
                  <a:schemeClr val="tx2"/>
                </a:solidFill>
              </a:rPr>
              <a:t>ackground</a:t>
            </a:r>
            <a:endParaRPr b="1" dirty="0">
              <a:solidFill>
                <a:schemeClr val="tx2"/>
              </a:solidFill>
            </a:endParaRPr>
          </a:p>
        </p:txBody>
      </p:sp>
      <p:sp>
        <p:nvSpPr>
          <p:cNvPr id="3" name="Content Placeholder 2"/>
          <p:cNvSpPr>
            <a:spLocks noGrp="1"/>
          </p:cNvSpPr>
          <p:nvPr>
            <p:ph idx="1"/>
          </p:nvPr>
        </p:nvSpPr>
        <p:spPr/>
        <p:txBody>
          <a:bodyPr/>
          <a:lstStyle/>
          <a:p>
            <a:r>
              <a:rPr dirty="0"/>
              <a:t>Several studies have focused on improving BMI accuracy and automation. Earlier models used analog scales and manual entry, whereas recent approaches employ sensors and IoT integration. Research indicates that digital BMI systems reduce human errors and support better health tracking. This project builds on those findings by incorporating AI-based analysis and IoT data sharing.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Methodology</a:t>
            </a:r>
          </a:p>
        </p:txBody>
      </p:sp>
      <p:sp>
        <p:nvSpPr>
          <p:cNvPr id="3" name="Content Placeholder 2"/>
          <p:cNvSpPr>
            <a:spLocks noGrp="1"/>
          </p:cNvSpPr>
          <p:nvPr>
            <p:ph idx="1"/>
          </p:nvPr>
        </p:nvSpPr>
        <p:spPr/>
        <p:txBody>
          <a:bodyPr>
            <a:normAutofit fontScale="92500" lnSpcReduction="20000"/>
          </a:bodyPr>
          <a:lstStyle/>
          <a:p>
            <a:r>
              <a:rPr dirty="0"/>
              <a:t>The methodology involves the following stages:</a:t>
            </a:r>
          </a:p>
          <a:p>
            <a:r>
              <a:rPr dirty="0"/>
              <a:t>1. Weight Measurement using Load Cell and HX711 Amplifier.</a:t>
            </a:r>
          </a:p>
          <a:p>
            <a:r>
              <a:rPr dirty="0"/>
              <a:t>2. Height Detection using Ultrasonic Sensor (HC-SR04).</a:t>
            </a:r>
          </a:p>
          <a:p>
            <a:r>
              <a:rPr dirty="0"/>
              <a:t>3. Data Processing through </a:t>
            </a:r>
            <a:endParaRPr lang="en-IN" dirty="0"/>
          </a:p>
          <a:p>
            <a:r>
              <a:rPr dirty="0"/>
              <a:t> Microcontroller.</a:t>
            </a:r>
          </a:p>
          <a:p>
            <a:r>
              <a:rPr dirty="0"/>
              <a:t>4. BMI Calculation and Categorization.</a:t>
            </a:r>
          </a:p>
          <a:p>
            <a:r>
              <a:rPr dirty="0"/>
              <a:t>5. Display Results on LCD/IoT Dashboard.</a:t>
            </a:r>
          </a:p>
          <a:p>
            <a:r>
              <a:rPr dirty="0"/>
              <a:t>6. Data Storage and Analysis.</a:t>
            </a:r>
          </a:p>
          <a:p>
            <a:endParaRPr dirty="0"/>
          </a:p>
          <a:p>
            <a:pPr marL="0" indent="0">
              <a:buNone/>
            </a:pPr>
            <a:endParaRPr lang="en-IN" dirty="0"/>
          </a:p>
          <a:p>
            <a:pPr marL="0" indent="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106777" y="577626"/>
            <a:ext cx="9227991" cy="856710"/>
          </a:xfrm>
          <a:prstGeom prst="rect">
            <a:avLst/>
          </a:prstGeom>
          <a:noFill/>
          <a:ln w="9360">
            <a:noFill/>
          </a:ln>
        </p:spPr>
        <p:txBody>
          <a:bodyPr vert="horz" lIns="68580" tIns="34290" rIns="68580" bIns="34290" numCol="1" spcCol="0" rtlCol="0" anchor="ctr">
            <a:noAutofit/>
          </a:bodyPr>
          <a:lstStyle/>
          <a:p>
            <a:pPr defTabSz="342900">
              <a:tabLst>
                <a:tab pos="0" algn="l"/>
              </a:tabLst>
            </a:pPr>
            <a:r>
              <a:rPr lang="en-US" sz="2700" b="1" dirty="0">
                <a:solidFill>
                  <a:schemeClr val="tx2"/>
                </a:solidFill>
                <a:latin typeface="Times New Roman"/>
                <a:ea typeface="ＭＳ Ｐゴシック"/>
              </a:rPr>
              <a:t>TECHNICAL APPROACH</a:t>
            </a:r>
            <a:endParaRPr lang="en-US" sz="2700" b="1" dirty="0">
              <a:solidFill>
                <a:schemeClr val="tx2"/>
              </a:solidFill>
              <a:latin typeface="Arial"/>
            </a:endParaRPr>
          </a:p>
        </p:txBody>
      </p:sp>
      <p:sp>
        <p:nvSpPr>
          <p:cNvPr id="89" name="PlaceHolder 2"/>
          <p:cNvSpPr>
            <a:spLocks noGrp="1"/>
          </p:cNvSpPr>
          <p:nvPr>
            <p:ph type="sldNum" idx="48"/>
          </p:nvPr>
        </p:nvSpPr>
        <p:spPr>
          <a:xfrm>
            <a:off x="6553170" y="5624640"/>
            <a:ext cx="2133000" cy="273240"/>
          </a:xfrm>
          <a:prstGeom prst="rect">
            <a:avLst/>
          </a:prstGeom>
          <a:noFill/>
          <a:ln w="0">
            <a:noFill/>
          </a:ln>
        </p:spPr>
        <p:txBody>
          <a:bodyPr lIns="68580" tIns="34290" rIns="68580" bIns="34290" numCol="1" spcCol="0" anchor="ctr">
            <a:noAutofit/>
          </a:bodyPr>
          <a:lstStyle>
            <a:lvl1pPr indent="0" algn="r" defTabSz="342900">
              <a:lnSpc>
                <a:spcPct val="100000"/>
              </a:lnSpc>
              <a:buNone/>
              <a:tabLst>
                <a:tab pos="0" algn="l"/>
              </a:tabLst>
              <a:defRPr lang="en-US" sz="900" b="1" u="none" strike="noStrike">
                <a:solidFill>
                  <a:schemeClr val="lt1"/>
                </a:solidFill>
                <a:uFillTx/>
                <a:latin typeface="TradeGothic"/>
                <a:ea typeface="ＭＳ Ｐゴシック"/>
              </a:defRPr>
            </a:lvl1pPr>
          </a:lstStyle>
          <a:p>
            <a:fld id="{0CF93110-3847-4A74-89DF-849BB814C56A}" type="slidenum">
              <a:rPr lang="en-US"/>
              <a:pPr/>
              <a:t>9</a:t>
            </a:fld>
            <a:endParaRPr lang="en-US" b="0">
              <a:solidFill>
                <a:srgbClr val="000000"/>
              </a:solidFill>
              <a:latin typeface="Times New Roman"/>
            </a:endParaRPr>
          </a:p>
        </p:txBody>
      </p:sp>
      <p:sp>
        <p:nvSpPr>
          <p:cNvPr id="90" name="PlaceHolder 3"/>
          <p:cNvSpPr>
            <a:spLocks noGrp="1"/>
          </p:cNvSpPr>
          <p:nvPr>
            <p:ph type="ftr" idx="49"/>
          </p:nvPr>
        </p:nvSpPr>
        <p:spPr>
          <a:xfrm>
            <a:off x="3486240" y="5624640"/>
            <a:ext cx="2402460" cy="273240"/>
          </a:xfrm>
          <a:prstGeom prst="rect">
            <a:avLst/>
          </a:prstGeom>
          <a:noFill/>
          <a:ln w="0">
            <a:noFill/>
          </a:ln>
        </p:spPr>
        <p:txBody>
          <a:bodyPr lIns="68580" tIns="34290" rIns="68580" bIns="34290" anchor="ctr">
            <a:noAutofit/>
          </a:bodyPr>
          <a:lstStyle>
            <a:lvl1pPr indent="0" algn="ctr" defTabSz="342900">
              <a:lnSpc>
                <a:spcPct val="100000"/>
              </a:lnSpc>
              <a:buNone/>
              <a:tabLst>
                <a:tab pos="0" algn="l"/>
              </a:tabLst>
              <a:defRPr lang="en-US" sz="900" b="0" u="none" strike="noStrike">
                <a:solidFill>
                  <a:schemeClr val="lt1"/>
                </a:solidFill>
                <a:uFillTx/>
                <a:latin typeface="TradeGothic"/>
              </a:defRPr>
            </a:lvl1pPr>
          </a:lstStyle>
          <a:p>
            <a:r>
              <a:rPr lang="en-US"/>
              <a:t>Sparkathon Idea submission- Template</a:t>
            </a:r>
            <a:endParaRPr lang="en-US">
              <a:solidFill>
                <a:srgbClr val="000000"/>
              </a:solidFill>
              <a:latin typeface="Times New Roman"/>
            </a:endParaRPr>
          </a:p>
        </p:txBody>
      </p:sp>
      <p:sp>
        <p:nvSpPr>
          <p:cNvPr id="2" name="Rectangle: Single Corner Rounded 1">
            <a:extLst>
              <a:ext uri="{FF2B5EF4-FFF2-40B4-BE49-F238E27FC236}">
                <a16:creationId xmlns:a16="http://schemas.microsoft.com/office/drawing/2014/main" id="{30FA81DB-C65F-9663-C79F-03CD23EC84F4}"/>
              </a:ext>
            </a:extLst>
          </p:cNvPr>
          <p:cNvSpPr/>
          <p:nvPr/>
        </p:nvSpPr>
        <p:spPr>
          <a:xfrm>
            <a:off x="247320" y="1992877"/>
            <a:ext cx="1751087" cy="3303638"/>
          </a:xfrm>
          <a:prstGeom prst="round1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sz="1350"/>
          </a:p>
        </p:txBody>
      </p:sp>
      <p:sp>
        <p:nvSpPr>
          <p:cNvPr id="3" name="Rectangle: Rounded Corners 2">
            <a:extLst>
              <a:ext uri="{FF2B5EF4-FFF2-40B4-BE49-F238E27FC236}">
                <a16:creationId xmlns:a16="http://schemas.microsoft.com/office/drawing/2014/main" id="{8797235A-AE12-94DC-F40E-884042DFD217}"/>
              </a:ext>
            </a:extLst>
          </p:cNvPr>
          <p:cNvSpPr/>
          <p:nvPr/>
        </p:nvSpPr>
        <p:spPr>
          <a:xfrm>
            <a:off x="2153264" y="1992877"/>
            <a:ext cx="6902246" cy="3406877"/>
          </a:xfrm>
          <a:prstGeom prst="roundRect">
            <a:avLst/>
          </a:prstGeom>
          <a:ln w="12700">
            <a:solidFill>
              <a:schemeClr val="tx2">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IN" sz="1350"/>
          </a:p>
        </p:txBody>
      </p:sp>
      <p:pic>
        <p:nvPicPr>
          <p:cNvPr id="5" name="Picture 4">
            <a:extLst>
              <a:ext uri="{FF2B5EF4-FFF2-40B4-BE49-F238E27FC236}">
                <a16:creationId xmlns:a16="http://schemas.microsoft.com/office/drawing/2014/main" id="{AFB9AEEE-20AD-5076-FBA9-3AC687ABB4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54750" y="2216635"/>
            <a:ext cx="1076633" cy="1076633"/>
          </a:xfrm>
          <a:prstGeom prst="rect">
            <a:avLst/>
          </a:prstGeom>
        </p:spPr>
      </p:pic>
      <p:sp>
        <p:nvSpPr>
          <p:cNvPr id="6" name="TextBox 5">
            <a:extLst>
              <a:ext uri="{FF2B5EF4-FFF2-40B4-BE49-F238E27FC236}">
                <a16:creationId xmlns:a16="http://schemas.microsoft.com/office/drawing/2014/main" id="{341979CB-E073-3EFD-2E07-92068BC575DD}"/>
              </a:ext>
            </a:extLst>
          </p:cNvPr>
          <p:cNvSpPr txBox="1"/>
          <p:nvPr/>
        </p:nvSpPr>
        <p:spPr>
          <a:xfrm>
            <a:off x="2166260" y="3293268"/>
            <a:ext cx="1253613" cy="300082"/>
          </a:xfrm>
          <a:prstGeom prst="rect">
            <a:avLst/>
          </a:prstGeom>
          <a:noFill/>
        </p:spPr>
        <p:txBody>
          <a:bodyPr wrap="square" rtlCol="0">
            <a:spAutoFit/>
          </a:bodyPr>
          <a:lstStyle/>
          <a:p>
            <a:pPr algn="ctr"/>
            <a:r>
              <a:rPr lang="en-US" sz="1350" dirty="0"/>
              <a:t>User</a:t>
            </a:r>
            <a:endParaRPr lang="en-IN" sz="1350" dirty="0"/>
          </a:p>
        </p:txBody>
      </p:sp>
      <p:cxnSp>
        <p:nvCxnSpPr>
          <p:cNvPr id="8" name="Straight Arrow Connector 7">
            <a:extLst>
              <a:ext uri="{FF2B5EF4-FFF2-40B4-BE49-F238E27FC236}">
                <a16:creationId xmlns:a16="http://schemas.microsoft.com/office/drawing/2014/main" id="{95C867E9-6CD7-B257-DF28-939F0E2DFE1A}"/>
              </a:ext>
            </a:extLst>
          </p:cNvPr>
          <p:cNvCxnSpPr/>
          <p:nvPr/>
        </p:nvCxnSpPr>
        <p:spPr>
          <a:xfrm>
            <a:off x="3176524" y="2754952"/>
            <a:ext cx="76829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671D7F0-C931-F04F-89D1-4AFCF08B7E30}"/>
              </a:ext>
            </a:extLst>
          </p:cNvPr>
          <p:cNvCxnSpPr/>
          <p:nvPr/>
        </p:nvCxnSpPr>
        <p:spPr>
          <a:xfrm>
            <a:off x="5220238" y="2754951"/>
            <a:ext cx="76829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4CA2711-9658-32D1-49C5-91D31733771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19967" y="2349950"/>
            <a:ext cx="1103346" cy="810004"/>
          </a:xfrm>
          <a:prstGeom prst="rect">
            <a:avLst/>
          </a:prstGeom>
        </p:spPr>
      </p:pic>
      <p:sp>
        <p:nvSpPr>
          <p:cNvPr id="12" name="TextBox 11">
            <a:extLst>
              <a:ext uri="{FF2B5EF4-FFF2-40B4-BE49-F238E27FC236}">
                <a16:creationId xmlns:a16="http://schemas.microsoft.com/office/drawing/2014/main" id="{411AF206-2F2F-CD29-F392-D61F8F5C3663}"/>
              </a:ext>
            </a:extLst>
          </p:cNvPr>
          <p:cNvSpPr txBox="1"/>
          <p:nvPr/>
        </p:nvSpPr>
        <p:spPr>
          <a:xfrm>
            <a:off x="3869700" y="3100267"/>
            <a:ext cx="1253613" cy="507831"/>
          </a:xfrm>
          <a:prstGeom prst="rect">
            <a:avLst/>
          </a:prstGeom>
          <a:noFill/>
        </p:spPr>
        <p:txBody>
          <a:bodyPr wrap="square" rtlCol="0">
            <a:spAutoFit/>
          </a:bodyPr>
          <a:lstStyle/>
          <a:p>
            <a:pPr algn="ctr"/>
            <a:r>
              <a:rPr lang="en-US" sz="1350" dirty="0"/>
              <a:t>Weight Measurement</a:t>
            </a:r>
            <a:endParaRPr lang="en-IN" sz="1350" dirty="0"/>
          </a:p>
        </p:txBody>
      </p:sp>
      <p:pic>
        <p:nvPicPr>
          <p:cNvPr id="14" name="Picture 13">
            <a:extLst>
              <a:ext uri="{FF2B5EF4-FFF2-40B4-BE49-F238E27FC236}">
                <a16:creationId xmlns:a16="http://schemas.microsoft.com/office/drawing/2014/main" id="{F36956F1-674F-51D6-DE49-B3AB7942F9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11898" y="2076406"/>
            <a:ext cx="1352594" cy="1352594"/>
          </a:xfrm>
          <a:prstGeom prst="rect">
            <a:avLst/>
          </a:prstGeom>
        </p:spPr>
      </p:pic>
      <p:sp>
        <p:nvSpPr>
          <p:cNvPr id="15" name="TextBox 14">
            <a:extLst>
              <a:ext uri="{FF2B5EF4-FFF2-40B4-BE49-F238E27FC236}">
                <a16:creationId xmlns:a16="http://schemas.microsoft.com/office/drawing/2014/main" id="{1D5F64E5-A7AD-7A95-DC82-4C1293D981AE}"/>
              </a:ext>
            </a:extLst>
          </p:cNvPr>
          <p:cNvSpPr txBox="1"/>
          <p:nvPr/>
        </p:nvSpPr>
        <p:spPr>
          <a:xfrm>
            <a:off x="5835798" y="3094861"/>
            <a:ext cx="1253613" cy="507831"/>
          </a:xfrm>
          <a:prstGeom prst="rect">
            <a:avLst/>
          </a:prstGeom>
          <a:noFill/>
        </p:spPr>
        <p:txBody>
          <a:bodyPr wrap="square" rtlCol="0">
            <a:spAutoFit/>
          </a:bodyPr>
          <a:lstStyle/>
          <a:p>
            <a:pPr algn="ctr"/>
            <a:r>
              <a:rPr lang="en-US" sz="1350" dirty="0"/>
              <a:t>Height Management</a:t>
            </a:r>
            <a:endParaRPr lang="en-IN" sz="1350" dirty="0"/>
          </a:p>
        </p:txBody>
      </p:sp>
      <p:cxnSp>
        <p:nvCxnSpPr>
          <p:cNvPr id="17" name="Straight Arrow Connector 16">
            <a:extLst>
              <a:ext uri="{FF2B5EF4-FFF2-40B4-BE49-F238E27FC236}">
                <a16:creationId xmlns:a16="http://schemas.microsoft.com/office/drawing/2014/main" id="{4692B4C3-2232-2469-F62F-7CC3CF79F171}"/>
              </a:ext>
            </a:extLst>
          </p:cNvPr>
          <p:cNvCxnSpPr/>
          <p:nvPr/>
        </p:nvCxnSpPr>
        <p:spPr>
          <a:xfrm>
            <a:off x="7015669" y="2752703"/>
            <a:ext cx="76829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871685E8-F3A3-82D6-A9F5-C2C4FF421B1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01897" y="2107371"/>
            <a:ext cx="1171352" cy="1171352"/>
          </a:xfrm>
          <a:prstGeom prst="rect">
            <a:avLst/>
          </a:prstGeom>
        </p:spPr>
      </p:pic>
      <p:sp>
        <p:nvSpPr>
          <p:cNvPr id="20" name="TextBox 19">
            <a:extLst>
              <a:ext uri="{FF2B5EF4-FFF2-40B4-BE49-F238E27FC236}">
                <a16:creationId xmlns:a16="http://schemas.microsoft.com/office/drawing/2014/main" id="{4063AD1F-B501-6C3D-65EF-AA8E73090EBA}"/>
              </a:ext>
            </a:extLst>
          </p:cNvPr>
          <p:cNvSpPr txBox="1"/>
          <p:nvPr/>
        </p:nvSpPr>
        <p:spPr>
          <a:xfrm>
            <a:off x="7719635" y="3186874"/>
            <a:ext cx="1253613" cy="507831"/>
          </a:xfrm>
          <a:prstGeom prst="rect">
            <a:avLst/>
          </a:prstGeom>
          <a:noFill/>
        </p:spPr>
        <p:txBody>
          <a:bodyPr wrap="square" rtlCol="0">
            <a:spAutoFit/>
          </a:bodyPr>
          <a:lstStyle/>
          <a:p>
            <a:pPr algn="ctr"/>
            <a:r>
              <a:rPr lang="en-US" sz="1350" dirty="0"/>
              <a:t>Real time BMI Calculation</a:t>
            </a:r>
            <a:endParaRPr lang="en-IN" sz="1350" dirty="0"/>
          </a:p>
        </p:txBody>
      </p:sp>
      <p:cxnSp>
        <p:nvCxnSpPr>
          <p:cNvPr id="21" name="Straight Arrow Connector 20">
            <a:extLst>
              <a:ext uri="{FF2B5EF4-FFF2-40B4-BE49-F238E27FC236}">
                <a16:creationId xmlns:a16="http://schemas.microsoft.com/office/drawing/2014/main" id="{2DF19DE0-BF88-3F8B-B64F-56A074BFFA27}"/>
              </a:ext>
            </a:extLst>
          </p:cNvPr>
          <p:cNvCxnSpPr>
            <a:cxnSpLocks/>
          </p:cNvCxnSpPr>
          <p:nvPr/>
        </p:nvCxnSpPr>
        <p:spPr>
          <a:xfrm>
            <a:off x="8387572" y="3671621"/>
            <a:ext cx="0" cy="5088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7A7AD3B5-837D-62AA-6C7E-34FC9534A5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19671" y="4031130"/>
            <a:ext cx="1475132" cy="983422"/>
          </a:xfrm>
          <a:prstGeom prst="rect">
            <a:avLst/>
          </a:prstGeom>
        </p:spPr>
      </p:pic>
      <p:sp>
        <p:nvSpPr>
          <p:cNvPr id="27" name="TextBox 26">
            <a:extLst>
              <a:ext uri="{FF2B5EF4-FFF2-40B4-BE49-F238E27FC236}">
                <a16:creationId xmlns:a16="http://schemas.microsoft.com/office/drawing/2014/main" id="{D391D18C-B805-D57C-FFD3-392A4DB7FF94}"/>
              </a:ext>
            </a:extLst>
          </p:cNvPr>
          <p:cNvSpPr txBox="1"/>
          <p:nvPr/>
        </p:nvSpPr>
        <p:spPr>
          <a:xfrm>
            <a:off x="7719635" y="4789180"/>
            <a:ext cx="1253613" cy="507831"/>
          </a:xfrm>
          <a:prstGeom prst="rect">
            <a:avLst/>
          </a:prstGeom>
          <a:noFill/>
        </p:spPr>
        <p:txBody>
          <a:bodyPr wrap="square" rtlCol="0">
            <a:spAutoFit/>
          </a:bodyPr>
          <a:lstStyle/>
          <a:p>
            <a:pPr algn="ctr"/>
            <a:r>
              <a:rPr lang="en-US" sz="1350" dirty="0"/>
              <a:t>BMI Categorization</a:t>
            </a:r>
            <a:endParaRPr lang="en-IN" sz="1350" dirty="0"/>
          </a:p>
        </p:txBody>
      </p:sp>
      <p:cxnSp>
        <p:nvCxnSpPr>
          <p:cNvPr id="28" name="Straight Arrow Connector 27">
            <a:extLst>
              <a:ext uri="{FF2B5EF4-FFF2-40B4-BE49-F238E27FC236}">
                <a16:creationId xmlns:a16="http://schemas.microsoft.com/office/drawing/2014/main" id="{8EE1B22F-BA48-415B-9263-DA22E0D403AB}"/>
              </a:ext>
            </a:extLst>
          </p:cNvPr>
          <p:cNvCxnSpPr>
            <a:cxnSpLocks/>
          </p:cNvCxnSpPr>
          <p:nvPr/>
        </p:nvCxnSpPr>
        <p:spPr>
          <a:xfrm flipH="1">
            <a:off x="6927830" y="4542367"/>
            <a:ext cx="791806" cy="2327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F71A0A17-AD42-B18A-8C26-873C06B632E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35798" y="3869786"/>
            <a:ext cx="1396372" cy="1235870"/>
          </a:xfrm>
          <a:prstGeom prst="rect">
            <a:avLst/>
          </a:prstGeom>
        </p:spPr>
      </p:pic>
      <p:sp>
        <p:nvSpPr>
          <p:cNvPr id="32" name="TextBox 31">
            <a:extLst>
              <a:ext uri="{FF2B5EF4-FFF2-40B4-BE49-F238E27FC236}">
                <a16:creationId xmlns:a16="http://schemas.microsoft.com/office/drawing/2014/main" id="{79659E1A-2335-4423-3736-354555376404}"/>
              </a:ext>
            </a:extLst>
          </p:cNvPr>
          <p:cNvSpPr txBox="1"/>
          <p:nvPr/>
        </p:nvSpPr>
        <p:spPr>
          <a:xfrm>
            <a:off x="5910879" y="4889716"/>
            <a:ext cx="1253613" cy="507831"/>
          </a:xfrm>
          <a:prstGeom prst="rect">
            <a:avLst/>
          </a:prstGeom>
          <a:noFill/>
        </p:spPr>
        <p:txBody>
          <a:bodyPr wrap="square" rtlCol="0">
            <a:spAutoFit/>
          </a:bodyPr>
          <a:lstStyle/>
          <a:p>
            <a:pPr algn="ctr"/>
            <a:r>
              <a:rPr lang="en-US" sz="1350" dirty="0"/>
              <a:t>Health Risk Prediction</a:t>
            </a:r>
            <a:endParaRPr lang="en-IN" sz="1350" dirty="0"/>
          </a:p>
        </p:txBody>
      </p:sp>
      <p:pic>
        <p:nvPicPr>
          <p:cNvPr id="46" name="Picture 45">
            <a:extLst>
              <a:ext uri="{FF2B5EF4-FFF2-40B4-BE49-F238E27FC236}">
                <a16:creationId xmlns:a16="http://schemas.microsoft.com/office/drawing/2014/main" id="{D56C74F3-AF36-D3DC-B941-F49567C4690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90713" y="2349950"/>
            <a:ext cx="804798" cy="905398"/>
          </a:xfrm>
          <a:prstGeom prst="rect">
            <a:avLst/>
          </a:prstGeom>
        </p:spPr>
      </p:pic>
      <p:pic>
        <p:nvPicPr>
          <p:cNvPr id="50" name="Picture 49">
            <a:extLst>
              <a:ext uri="{FF2B5EF4-FFF2-40B4-BE49-F238E27FC236}">
                <a16:creationId xmlns:a16="http://schemas.microsoft.com/office/drawing/2014/main" id="{334E53D7-FF28-22AA-5483-53D301ACDA3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6777" y="3342641"/>
            <a:ext cx="2083161" cy="786972"/>
          </a:xfrm>
          <a:prstGeom prst="rect">
            <a:avLst/>
          </a:prstGeom>
        </p:spPr>
      </p:pic>
      <p:pic>
        <p:nvPicPr>
          <p:cNvPr id="52" name="Picture 51">
            <a:extLst>
              <a:ext uri="{FF2B5EF4-FFF2-40B4-BE49-F238E27FC236}">
                <a16:creationId xmlns:a16="http://schemas.microsoft.com/office/drawing/2014/main" id="{2EFF3D3D-7D09-6C69-8D91-5535F7336BD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49549" y="3799740"/>
            <a:ext cx="1384777" cy="13847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Results and Analysis</a:t>
            </a:r>
          </a:p>
        </p:txBody>
      </p:sp>
      <p:sp>
        <p:nvSpPr>
          <p:cNvPr id="3" name="Content Placeholder 2"/>
          <p:cNvSpPr>
            <a:spLocks noGrp="1"/>
          </p:cNvSpPr>
          <p:nvPr>
            <p:ph idx="1"/>
          </p:nvPr>
        </p:nvSpPr>
        <p:spPr/>
        <p:txBody>
          <a:bodyPr/>
          <a:lstStyle/>
          <a:p>
            <a:r>
              <a:rPr dirty="0"/>
              <a:t>The Smart BMI Indicator successfully measured both height and weight with high precision. The calculated BMI values were displayed on an LCD and sent to a web dashboard for analysis. Tests showed less than 2% deviation from standard BMI calculators.</a:t>
            </a:r>
          </a:p>
          <a:p>
            <a:endParaRPr dirty="0"/>
          </a:p>
          <a:p>
            <a:pPr marL="0" indent="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Conclusion</a:t>
            </a:r>
          </a:p>
        </p:txBody>
      </p:sp>
      <p:sp>
        <p:nvSpPr>
          <p:cNvPr id="3" name="Content Placeholder 2"/>
          <p:cNvSpPr>
            <a:spLocks noGrp="1"/>
          </p:cNvSpPr>
          <p:nvPr>
            <p:ph idx="1"/>
          </p:nvPr>
        </p:nvSpPr>
        <p:spPr/>
        <p:txBody>
          <a:bodyPr/>
          <a:lstStyle/>
          <a:p>
            <a:r>
              <a:rPr dirty="0"/>
              <a:t>The Smart BMI Indicator project achieved its goal of automating BMI measurement using electronic sensors and microcontrollers. It reduces manual effort and enhances accuracy. The integration of IoT capabilities ensures remote monitoring and data storage. This system promotes awareness about personal health and supports preventive care practices.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solidFill>
              </a:rPr>
              <a:t>Future Work</a:t>
            </a:r>
          </a:p>
        </p:txBody>
      </p:sp>
      <p:sp>
        <p:nvSpPr>
          <p:cNvPr id="3" name="Content Placeholder 2"/>
          <p:cNvSpPr>
            <a:spLocks noGrp="1"/>
          </p:cNvSpPr>
          <p:nvPr>
            <p:ph idx="1"/>
          </p:nvPr>
        </p:nvSpPr>
        <p:spPr/>
        <p:txBody>
          <a:bodyPr/>
          <a:lstStyle/>
          <a:p>
            <a:r>
              <a:rPr dirty="0"/>
              <a:t>• Integrate machine learning algorithms for advanced health prediction.</a:t>
            </a:r>
          </a:p>
          <a:p>
            <a:r>
              <a:rPr dirty="0"/>
              <a:t>• Add mobile app synchronization for easier access.</a:t>
            </a:r>
          </a:p>
          <a:p>
            <a:r>
              <a:rPr dirty="0"/>
              <a:t>• Improve the design for portability and energy efficiency.</a:t>
            </a:r>
          </a:p>
          <a:p>
            <a:r>
              <a:rPr dirty="0"/>
              <a:t>• Expand functionality to include heart rate and body fat measurement.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7549" y="245701"/>
            <a:ext cx="9890567" cy="1143000"/>
          </a:xfrm>
        </p:spPr>
        <p:txBody>
          <a:bodyPr>
            <a:normAutofit fontScale="90000"/>
          </a:bodyPr>
          <a:lstStyle/>
          <a:p>
            <a:pPr algn="l"/>
            <a:r>
              <a:rPr b="1" dirty="0">
                <a:solidFill>
                  <a:schemeClr val="tx2"/>
                </a:solidFill>
              </a:rPr>
              <a:t>Sustainable Development Goals (SDG) Alignment</a:t>
            </a:r>
          </a:p>
        </p:txBody>
      </p:sp>
      <p:sp>
        <p:nvSpPr>
          <p:cNvPr id="3" name="Content Placeholder 2"/>
          <p:cNvSpPr>
            <a:spLocks noGrp="1"/>
          </p:cNvSpPr>
          <p:nvPr>
            <p:ph idx="1"/>
          </p:nvPr>
        </p:nvSpPr>
        <p:spPr/>
        <p:txBody>
          <a:bodyPr>
            <a:normAutofit fontScale="92500" lnSpcReduction="10000"/>
          </a:bodyPr>
          <a:lstStyle/>
          <a:p>
            <a:r>
              <a:rPr dirty="0"/>
              <a:t>This project aligns with the following UN Sustainable Development Goals:</a:t>
            </a:r>
          </a:p>
          <a:p>
            <a:r>
              <a:rPr dirty="0"/>
              <a:t>SDG 3 – Good Health and Well-being: Promotes preventive healthcare and physical well-being.</a:t>
            </a:r>
          </a:p>
          <a:p>
            <a:r>
              <a:rPr dirty="0"/>
              <a:t>SDG 9 – Industry, Innovation, and Infrastructure: Encourages innovation in digital healthcare systems.</a:t>
            </a:r>
          </a:p>
          <a:p>
            <a:r>
              <a:rPr dirty="0"/>
              <a:t>SDG 11 – Sustainable Cities and Communities: Supports healthy lifestyles and smarter health monitoring in communities.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b="1" dirty="0" err="1">
                <a:solidFill>
                  <a:schemeClr val="tx2"/>
                </a:solidFill>
              </a:rPr>
              <a:t>Acknowledgmen</a:t>
            </a:r>
            <a:r>
              <a:rPr lang="en-IN" b="1" dirty="0">
                <a:solidFill>
                  <a:schemeClr val="tx2"/>
                </a:solidFill>
              </a:rPr>
              <a:t>t:</a:t>
            </a:r>
            <a:endParaRPr b="1" dirty="0">
              <a:solidFill>
                <a:schemeClr val="tx2"/>
              </a:solidFill>
            </a:endParaRPr>
          </a:p>
        </p:txBody>
      </p:sp>
      <p:sp>
        <p:nvSpPr>
          <p:cNvPr id="3" name="Content Placeholder 2"/>
          <p:cNvSpPr>
            <a:spLocks noGrp="1"/>
          </p:cNvSpPr>
          <p:nvPr>
            <p:ph idx="1"/>
          </p:nvPr>
        </p:nvSpPr>
        <p:spPr>
          <a:xfrm>
            <a:off x="634180" y="1315065"/>
            <a:ext cx="8229600" cy="4525963"/>
          </a:xfrm>
        </p:spPr>
        <p:txBody>
          <a:bodyPr>
            <a:normAutofit fontScale="92500" lnSpcReduction="10000"/>
          </a:bodyPr>
          <a:lstStyle/>
          <a:p>
            <a:r>
              <a:rPr dirty="0"/>
              <a:t>We would like to express our sincere gratitude to our guide, Mr. Sundara Moorthy, for his continuous support and guidance throughout this project. We also thank the Department of Electrical and Electronics Engineering, Panimalar Engineering College, for providing the resources and encouragement.</a:t>
            </a:r>
          </a:p>
          <a:p>
            <a:endParaRPr dirty="0"/>
          </a:p>
          <a:p>
            <a:pPr marL="0" indent="0">
              <a:buNone/>
            </a:pPr>
            <a:r>
              <a:rPr lang="en-IN" sz="4700" b="1" dirty="0">
                <a:solidFill>
                  <a:schemeClr val="tx2"/>
                </a:solidFill>
              </a:rPr>
              <a:t> </a:t>
            </a:r>
          </a:p>
          <a:p>
            <a:pPr marL="0" indent="0">
              <a:buNone/>
            </a:pPr>
            <a:endParaRPr sz="4700" b="1" dirty="0">
              <a:solidFill>
                <a:schemeClr val="tx2"/>
              </a:solidFill>
            </a:endParaRPr>
          </a:p>
        </p:txBody>
      </p:sp>
      <p:sp>
        <p:nvSpPr>
          <p:cNvPr id="4" name="Rectangle 1">
            <a:extLst>
              <a:ext uri="{FF2B5EF4-FFF2-40B4-BE49-F238E27FC236}">
                <a16:creationId xmlns:a16="http://schemas.microsoft.com/office/drawing/2014/main" id="{FE76D0BF-34B5-758E-2A72-EBB9C4EBEBE9}"/>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DFAF4-E22C-D996-56EA-5B86FCF84792}"/>
              </a:ext>
            </a:extLst>
          </p:cNvPr>
          <p:cNvSpPr>
            <a:spLocks noGrp="1"/>
          </p:cNvSpPr>
          <p:nvPr>
            <p:ph type="title"/>
          </p:nvPr>
        </p:nvSpPr>
        <p:spPr/>
        <p:txBody>
          <a:bodyPr/>
          <a:lstStyle/>
          <a:p>
            <a:pPr algn="l"/>
            <a:r>
              <a:rPr lang="en-IN" b="1" dirty="0">
                <a:solidFill>
                  <a:schemeClr val="tx2"/>
                </a:solidFill>
              </a:rPr>
              <a:t>Reference:</a:t>
            </a:r>
          </a:p>
        </p:txBody>
      </p:sp>
      <p:sp>
        <p:nvSpPr>
          <p:cNvPr id="3" name="Content Placeholder 2">
            <a:extLst>
              <a:ext uri="{FF2B5EF4-FFF2-40B4-BE49-F238E27FC236}">
                <a16:creationId xmlns:a16="http://schemas.microsoft.com/office/drawing/2014/main" id="{E3144ED8-A335-F95D-AB32-4E04BAF2F607}"/>
              </a:ext>
            </a:extLst>
          </p:cNvPr>
          <p:cNvSpPr>
            <a:spLocks noGrp="1"/>
          </p:cNvSpPr>
          <p:nvPr>
            <p:ph idx="1"/>
          </p:nvPr>
        </p:nvSpPr>
        <p:spPr/>
        <p:txBody>
          <a:bodyPr>
            <a:normAutofit/>
          </a:bodyPr>
          <a:lstStyle/>
          <a:p>
            <a:r>
              <a:rPr lang="en-US" sz="1800" dirty="0"/>
              <a:t>[1] World Health Organization, “Obesity and overweight,” </a:t>
            </a:r>
            <a:r>
              <a:rPr lang="en-US" sz="1800" i="1" dirty="0"/>
              <a:t>World Health Organization</a:t>
            </a:r>
            <a:r>
              <a:rPr lang="en-US" sz="1800" dirty="0"/>
              <a:t>, 2020. [Online]. Available: </a:t>
            </a:r>
            <a:r>
              <a:rPr lang="en-US" sz="1800" dirty="0">
                <a:hlinkClick r:id="rId2"/>
              </a:rPr>
              <a:t>https://www.who.int/news-room/fact-sheets/detail/obesity-and-overweight</a:t>
            </a:r>
            <a:r>
              <a:rPr lang="en-US" sz="1800" dirty="0"/>
              <a:t>. [Accessed: Oct. 27, 2025].</a:t>
            </a:r>
          </a:p>
          <a:p>
            <a:r>
              <a:rPr lang="en-US" sz="1800" dirty="0"/>
              <a:t>[2] Centers for Disease Control and Prevention (CDC), “About Adult BMI,” </a:t>
            </a:r>
            <a:r>
              <a:rPr lang="en-US" sz="1800" i="1" dirty="0"/>
              <a:t>CDC Healthy Weight</a:t>
            </a:r>
            <a:r>
              <a:rPr lang="en-US" sz="1800" dirty="0"/>
              <a:t>, 2023. [Online]. Available: </a:t>
            </a:r>
            <a:r>
              <a:rPr lang="en-US" sz="1800" dirty="0">
                <a:hlinkClick r:id="rId3"/>
              </a:rPr>
              <a:t>https://www.cdc.gov/healthyweight/assessing/bmi/adult_bmi/index.html</a:t>
            </a:r>
            <a:r>
              <a:rPr lang="en-US" sz="1800" dirty="0"/>
              <a:t>. [Accessed: Oct. 27, 2025].</a:t>
            </a:r>
          </a:p>
          <a:p>
            <a:r>
              <a:rPr lang="en-US" sz="1800" dirty="0"/>
              <a:t>[3] National Institutes of Health (NIH), </a:t>
            </a:r>
            <a:r>
              <a:rPr lang="en-US" sz="1800" i="1" dirty="0"/>
              <a:t>Clinical Guidelines on the Identification, Evaluation, and Treatment of Overweight and Obesity in Adults</a:t>
            </a:r>
            <a:r>
              <a:rPr lang="en-US" sz="1800" dirty="0"/>
              <a:t>, Bethesda, MD: NIH Publication No. 98–4083, 1998.</a:t>
            </a:r>
          </a:p>
          <a:p>
            <a:r>
              <a:rPr lang="en-US" sz="1800" dirty="0"/>
              <a:t>[4] A. </a:t>
            </a:r>
            <a:r>
              <a:rPr lang="en-US" sz="1800" dirty="0" err="1"/>
              <a:t>Quetelet</a:t>
            </a:r>
            <a:r>
              <a:rPr lang="en-US" sz="1800" dirty="0"/>
              <a:t>, </a:t>
            </a:r>
            <a:r>
              <a:rPr lang="en-US" sz="1800" i="1" dirty="0"/>
              <a:t>A Treatise on Man and the Development of His Faculties</a:t>
            </a:r>
            <a:r>
              <a:rPr lang="en-US" sz="1800" dirty="0"/>
              <a:t>, Edinburgh: William and Robert Chambers, 1842.</a:t>
            </a:r>
          </a:p>
          <a:p>
            <a:r>
              <a:rPr lang="en-US" sz="1800" dirty="0"/>
              <a:t>[5] A. Keys, F. Fidanza, M. J. Karvonen, N. Kimura, and H. L. Taylor, “Indices of relative weight and obesity,” </a:t>
            </a:r>
            <a:r>
              <a:rPr lang="en-US" sz="1800" i="1" dirty="0"/>
              <a:t>Journal of Chronic Diseases</a:t>
            </a:r>
            <a:r>
              <a:rPr lang="en-US" sz="1800" dirty="0"/>
              <a:t>, vol. 25, no. 6–7, pp. 329–343, 1972, do: 10.1016/0021-9681(72)90027-6.</a:t>
            </a:r>
          </a:p>
          <a:p>
            <a:endParaRPr lang="en-IN" sz="3600" dirty="0"/>
          </a:p>
          <a:p>
            <a:endParaRPr lang="en-IN" sz="3600" dirty="0"/>
          </a:p>
        </p:txBody>
      </p:sp>
    </p:spTree>
    <p:extLst>
      <p:ext uri="{BB962C8B-B14F-4D97-AF65-F5344CB8AC3E}">
        <p14:creationId xmlns:p14="http://schemas.microsoft.com/office/powerpoint/2010/main" val="25649563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TotalTime>
  <Words>1029</Words>
  <Application>Microsoft Office PowerPoint</Application>
  <PresentationFormat>On-screen Show (4:3)</PresentationFormat>
  <Paragraphs>82</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Cascadia Code SemiBold</vt:lpstr>
      <vt:lpstr>Times New Roman</vt:lpstr>
      <vt:lpstr>Office Theme</vt:lpstr>
      <vt:lpstr>           SMART BMI INDICATOR     SANTHOSH KANNA M (211422105147)         SANJAY A(211422105145)         SARAN M(211422105150)         VINOTH KUMAR(211422105912)</vt:lpstr>
      <vt:lpstr>Table Of Content:</vt:lpstr>
      <vt:lpstr>Abstract</vt:lpstr>
      <vt:lpstr>Introduction</vt:lpstr>
      <vt:lpstr>Problem Statement</vt:lpstr>
      <vt:lpstr>Objectives</vt:lpstr>
      <vt:lpstr>Review / BLiterature ackground</vt:lpstr>
      <vt:lpstr>Methodology</vt:lpstr>
      <vt:lpstr>TECHNICAL APPROACH</vt:lpstr>
      <vt:lpstr>Results and Analysis</vt:lpstr>
      <vt:lpstr>Conclusion</vt:lpstr>
      <vt:lpstr>Future Work</vt:lpstr>
      <vt:lpstr>Sustainable Development Goals (SDG) Alignment</vt:lpstr>
      <vt:lpstr>Acknowledgment:</vt:lpstr>
      <vt:lpstr>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Praveen Kumar</dc:creator>
  <cp:keywords/>
  <dc:description>generated using python-pptx</dc:description>
  <cp:lastModifiedBy>Saran M</cp:lastModifiedBy>
  <cp:revision>8</cp:revision>
  <dcterms:created xsi:type="dcterms:W3CDTF">2013-01-27T09:14:16Z</dcterms:created>
  <dcterms:modified xsi:type="dcterms:W3CDTF">2025-10-27T17:43:08Z</dcterms:modified>
  <cp:category/>
</cp:coreProperties>
</file>